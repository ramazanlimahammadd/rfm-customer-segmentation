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iriş" id="{07a3a166-8326-42a9-26a5-73aac33f68a9}">
          <p14:sldIdLst>
            <p14:sldId id="256"/>
            <p14:sldId id="257"/>
            <p14:sldId id="258"/>
            <p14:sldId id="259"/>
            <p14:sldId id="260"/>
          </p14:sldIdLst>
        </p14:section>
        <p14:section name="Metodologiya" id="{0e50fc28-646b-0124-5d7c-6e6d6dca5c9f}">
          <p14:sldIdLst>
            <p14:sldId id="261"/>
            <p14:sldId id="262"/>
          </p14:sldIdLst>
        </p14:section>
        <p14:section name="Analiz" id="{34888c90-d698-c060-76f5-ccc2c8552361}">
          <p14:sldIdLst>
            <p14:sldId id="263"/>
            <p14:sldId id="264"/>
            <p14:sldId id="265"/>
            <p14:sldId id="266"/>
            <p14:sldId id="267"/>
          </p14:sldIdLst>
        </p14:section>
        <p14:section name="Strategiya və yekun" id="{9b294278-b981-3cbf-fe1c-a5b0281c0d78}">
          <p14:sldIdLst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Müştəri sayı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B27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7C8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7C8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DB4C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DB4C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DB4C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DB4C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9DB4C8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9DB4C8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9DB4C8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Loyal Customers  (19.0%)</c:v>
                  </c:pt>
                  <c:pt idx="1">
                    <c:v>Champions  (17.1%)</c:v>
                  </c:pt>
                  <c:pt idx="2">
                    <c:v>Lost  (16.5%)</c:v>
                  </c:pt>
                  <c:pt idx="3">
                    <c:v>Need Attention  (14.5%)</c:v>
                  </c:pt>
                  <c:pt idx="4">
                    <c:v>Cannot Lose Them  (10.7%)</c:v>
                  </c:pt>
                  <c:pt idx="5">
                    <c:v>New Customers  (8.9%)</c:v>
                  </c:pt>
                  <c:pt idx="6">
                    <c:v>At Risk  (4.9%)</c:v>
                  </c:pt>
                  <c:pt idx="7">
                    <c:v>Promising  (4.8%)</c:v>
                  </c:pt>
                  <c:pt idx="8">
                    <c:v>Big Spenders (Churned)  (3.7%)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949</c:v>
                </c:pt>
                <c:pt idx="1">
                  <c:v>856</c:v>
                </c:pt>
                <c:pt idx="2">
                  <c:v>827</c:v>
                </c:pt>
                <c:pt idx="3">
                  <c:v>724</c:v>
                </c:pt>
                <c:pt idx="4">
                  <c:v>533</c:v>
                </c:pt>
                <c:pt idx="5">
                  <c:v>443</c:v>
                </c:pt>
                <c:pt idx="6">
                  <c:v>245</c:v>
                </c:pt>
                <c:pt idx="7">
                  <c:v>238</c:v>
                </c:pt>
                <c:pt idx="8">
                  <c:v>185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B27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27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Gəlir payı (%)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B27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7C8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7C8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DB4C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DB4C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DB4C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DB4C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9DB4C8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9DB4C8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9DB4C8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Champions</c:v>
                  </c:pt>
                  <c:pt idx="1">
                    <c:v>Loyal Customers</c:v>
                  </c:pt>
                  <c:pt idx="2">
                    <c:v>At Risk</c:v>
                  </c:pt>
                  <c:pt idx="3">
                    <c:v>Cannot Lose Them</c:v>
                  </c:pt>
                  <c:pt idx="4">
                    <c:v>Need Attention</c:v>
                  </c:pt>
                  <c:pt idx="5">
                    <c:v>Big Spenders (Churned)</c:v>
                  </c:pt>
                  <c:pt idx="6">
                    <c:v>New Customers</c:v>
                  </c:pt>
                  <c:pt idx="7">
                    <c:v>Lost</c:v>
                  </c:pt>
                  <c:pt idx="8">
                    <c:v>Promising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38.4</c:v>
                </c:pt>
                <c:pt idx="1">
                  <c:v>24.4</c:v>
                </c:pt>
                <c:pt idx="2">
                  <c:v>9.9</c:v>
                </c:pt>
                <c:pt idx="3">
                  <c:v>7.3</c:v>
                </c:pt>
                <c:pt idx="4">
                  <c:v>6.6</c:v>
                </c:pt>
                <c:pt idx="5">
                  <c:v>6.2</c:v>
                </c:pt>
                <c:pt idx="6">
                  <c:v>4.3</c:v>
                </c:pt>
                <c:pt idx="7">
                  <c:v>2.1</c:v>
                </c:pt>
                <c:pt idx="8">
                  <c:v>0.7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1B27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27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Müştəri Seqmentasiyası və RFM Analizi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554480"/>
            <a:ext cx="694944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840480"/>
            <a:ext cx="6400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554480"/>
            <a:ext cx="6949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Müştəri Seqmentasiyası və 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chemeClr val="accent2"/>
                </a:solidFill>
              </a:rPr>
              <a:t>RFM Analizi</a:t>
            </a:r>
            <a:endParaRPr lang="en-US" sz="4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8404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Müştəri davranışlarını anlamaq, satış fəaliyyətini optimallaşdırmaq və fərdiləşdirilmiş marketinq strategiyaları qurmaq üçün analitik yanaşma.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539496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6"/>
                </a:solidFill>
              </a:rPr>
              <a:t>Hazırladı: </a:t>
            </a:r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Ramazanlı Məhəmməd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6"/>
                </a:solidFill>
              </a:rPr>
              <a:t>Dataset mənbəyi: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Kaggle — “E-commerce Customer Behavior Dataset”</a:t>
            </a:r>
            <a:endParaRPr lang="en-US" sz="1400" dirty="0"/>
          </a:p>
        </p:txBody>
      </p:sp>
      <p:sp>
        <p:nvSpPr>
          <p:cNvPr id="5" name="Motif R"/>
          <p:cNvSpPr/>
          <p:nvPr/>
        </p:nvSpPr>
        <p:spPr>
          <a:xfrm>
            <a:off x="8183880" y="1554480"/>
            <a:ext cx="2468880" cy="2468880"/>
          </a:xfrm>
          <a:prstGeom prst="ellipse">
            <a:avLst/>
          </a:prstGeom>
          <a:solidFill>
            <a:schemeClr val="accent1">
              <a:alpha val="85000"/>
            </a:schemeClr>
          </a:solidFill>
          <a:ln/>
        </p:spPr>
      </p:sp>
      <p:sp>
        <p:nvSpPr>
          <p:cNvPr id="6" name="Motif F"/>
          <p:cNvSpPr/>
          <p:nvPr/>
        </p:nvSpPr>
        <p:spPr>
          <a:xfrm>
            <a:off x="9326880" y="1554480"/>
            <a:ext cx="2468880" cy="2468880"/>
          </a:xfrm>
          <a:prstGeom prst="ellipse">
            <a:avLst/>
          </a:prstGeom>
          <a:solidFill>
            <a:schemeClr val="accent2">
              <a:alpha val="80000"/>
            </a:schemeClr>
          </a:solidFill>
          <a:ln/>
        </p:spPr>
      </p:sp>
      <p:sp>
        <p:nvSpPr>
          <p:cNvPr id="7" name="Motif M"/>
          <p:cNvSpPr/>
          <p:nvPr/>
        </p:nvSpPr>
        <p:spPr>
          <a:xfrm>
            <a:off x="8759952" y="2834640"/>
            <a:ext cx="2468880" cy="2468880"/>
          </a:xfrm>
          <a:prstGeom prst="ellipse">
            <a:avLst/>
          </a:prstGeom>
          <a:solidFill>
            <a:schemeClr val="accent3">
              <a:alpha val="90000"/>
            </a:scheme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412480" y="18288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10469880" y="18288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9445752" y="39776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5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Müştəri Seqmentasiyası Nədir</a:t>
            </a:r>
            <a:endParaRPr lang="en-US" sz="3200" dirty="0"/>
          </a:p>
        </p:txBody>
      </p:sp>
      <p:sp>
        <p:nvSpPr>
          <p:cNvPr id="3" name="Card 1"/>
          <p:cNvSpPr/>
          <p:nvPr/>
        </p:nvSpPr>
        <p:spPr>
          <a:xfrm>
            <a:off x="548640" y="1554480"/>
            <a:ext cx="5394960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/>
        </p:spPr>
      </p:sp>
      <p:sp>
        <p:nvSpPr>
          <p:cNvPr id="4" name="Icon circle 1"/>
          <p:cNvSpPr/>
          <p:nvPr/>
        </p:nvSpPr>
        <p:spPr>
          <a:xfrm>
            <a:off x="1005840" y="201168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24028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05840" y="31546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Davranışa Əsaslanan Qruplaşma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05840" y="3840480"/>
            <a:ext cx="4480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chemeClr val="tx1"/>
                </a:solidFill>
              </a:rPr>
              <a:t>Müştəri seqmentasiyası, geniş müştəri kütləsini oxşar xüsusiyyətlərinə, vərdişlərinə və ya satınalma davranışlarına görə qruplara ayırmaq prosesidir. RFM modeli isə demoqrafik məlumatlardan uzaqlaşaraq birbaşa faktiki alış-veriş fəaliyyətlərinə fokuslanır.</a:t>
            </a:r>
            <a:endParaRPr lang="en-US" sz="1800" dirty="0"/>
          </a:p>
        </p:txBody>
      </p:sp>
      <p:sp>
        <p:nvSpPr>
          <p:cNvPr id="8" name="Card 2"/>
          <p:cNvSpPr/>
          <p:nvPr/>
        </p:nvSpPr>
        <p:spPr>
          <a:xfrm>
            <a:off x="6245352" y="1554480"/>
            <a:ext cx="5394960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/>
        </p:spPr>
      </p:sp>
      <p:sp>
        <p:nvSpPr>
          <p:cNvPr id="9" name="Icon circle 2"/>
          <p:cNvSpPr/>
          <p:nvPr/>
        </p:nvSpPr>
        <p:spPr>
          <a:xfrm>
            <a:off x="6702552" y="2011680"/>
            <a:ext cx="868680" cy="8686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1152" y="22402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702552" y="31546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Biznes üçün Strateji Əhəmiyyəti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6702552" y="3840480"/>
            <a:ext cx="4480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chemeClr val="tx1"/>
                </a:solidFill>
              </a:rPr>
              <a:t>Hər bir müştəri qrupu üçün xüsusi marketinq mesajı hazırlamaq, büdcəni daha səmərəli idarə etmək, müştəri loyallığını artırmaq və potensial müştəri itkisini (churn) əvvəlcədən proqnozlaşdıraraq qarşısını almaq üçün əvəzedilməz analitik alətdir.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RFM Modelinin Üç Əsas Sütunu</a:t>
            </a:r>
            <a:endParaRPr lang="en-US" sz="3200" dirty="0"/>
          </a:p>
        </p:txBody>
      </p:sp>
      <p:sp>
        <p:nvSpPr>
          <p:cNvPr id="3" name="Pillar card Recency"/>
          <p:cNvSpPr/>
          <p:nvPr/>
        </p:nvSpPr>
        <p:spPr>
          <a:xfrm>
            <a:off x="548640" y="1554480"/>
            <a:ext cx="3520440" cy="448056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4" name="Icon circle Recency"/>
          <p:cNvSpPr/>
          <p:nvPr/>
        </p:nvSpPr>
        <p:spPr>
          <a:xfrm>
            <a:off x="960120" y="19659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2176272"/>
            <a:ext cx="402336" cy="4023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301752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Recency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34290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Yenilik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3886200"/>
            <a:ext cx="2697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Müştərinin ən son nə vaxt alış-veriş etdiyini ölçür. Son fəaliyyət tarixi nə qədər yenidirsə, müştərinin brendlə yenidən qarşılıqlı əlaqəyə girmə ehtimalı bir o qədər yüksəkdir.</a:t>
            </a:r>
            <a:endParaRPr lang="en-US" sz="1600" dirty="0"/>
          </a:p>
        </p:txBody>
      </p:sp>
      <p:sp>
        <p:nvSpPr>
          <p:cNvPr id="9" name="Pillar card Frequency"/>
          <p:cNvSpPr/>
          <p:nvPr/>
        </p:nvSpPr>
        <p:spPr>
          <a:xfrm>
            <a:off x="4334256" y="1554480"/>
            <a:ext cx="3520440" cy="448056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10" name="Icon circle Frequency"/>
          <p:cNvSpPr/>
          <p:nvPr/>
        </p:nvSpPr>
        <p:spPr>
          <a:xfrm>
            <a:off x="4745736" y="1965960"/>
            <a:ext cx="822960" cy="8229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1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217627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45736" y="301752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Frequency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4745736" y="34290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Sıxlıq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4745736" y="3886200"/>
            <a:ext cx="2697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Müştərinin müəyyən bir zaman kəsiyində neçə dəfə alış-veriş etdiyini göstərir. Bu göstərici birbaşa müştəri vərdişlərini və brendə olan loyallıq səviyyəsini xarakterizə edir.</a:t>
            </a:r>
            <a:endParaRPr lang="en-US" sz="1600" dirty="0"/>
          </a:p>
        </p:txBody>
      </p:sp>
      <p:sp>
        <p:nvSpPr>
          <p:cNvPr id="15" name="Pillar card Monetary"/>
          <p:cNvSpPr/>
          <p:nvPr/>
        </p:nvSpPr>
        <p:spPr>
          <a:xfrm>
            <a:off x="8119872" y="1554480"/>
            <a:ext cx="3520440" cy="448056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16" name="Icon circle Monetary"/>
          <p:cNvSpPr/>
          <p:nvPr/>
        </p:nvSpPr>
        <p:spPr>
          <a:xfrm>
            <a:off x="8531352" y="1965960"/>
            <a:ext cx="822960" cy="8229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7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664" y="2176272"/>
            <a:ext cx="402336" cy="40233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531352" y="301752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Monetary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8531352" y="34290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Maddi Dəyər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8531352" y="3886200"/>
            <a:ext cx="2697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Müştərinin etdiyi alış-verişlərin ümumi maliyyə dəyərini ifadə edir. “Monetary” dəyəri yüksək olan müştərilər biznesiniz üçün ən çox gəlir gətirən VIP seqmenti formalaşdırır.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Giriş və Problem</a:t>
            </a:r>
            <a:endParaRPr lang="en-US" sz="3200" dirty="0"/>
          </a:p>
        </p:txBody>
      </p:sp>
      <p:sp>
        <p:nvSpPr>
          <p:cNvPr id="3" name="Problem card"/>
          <p:cNvSpPr/>
          <p:nvPr/>
        </p:nvSpPr>
        <p:spPr>
          <a:xfrm>
            <a:off x="548640" y="1417320"/>
            <a:ext cx="5212080" cy="3310128"/>
          </a:xfrm>
          <a:prstGeom prst="roundRect">
            <a:avLst>
              <a:gd name="adj" fmla="val 3315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6916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194560"/>
            <a:ext cx="44805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E-ticarət şirkətləri üçün bütün müştərilər eyni dəyərə malik deyil — bəziləri tez-tez alış-veriş edir, bəziləri isə bir dəfə alıb bir daha qayıtmır.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Məhdud marketinq büdcəsini hər kəsə eyni cür xərcləmək səmərəsizdir.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Sual: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Hansı müştərilərə diqqət yetirməliyik? Kimi saxlamaq, kimi geri qazanmaq, kimə investisiya etmək lazımdır?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217920" y="1417320"/>
            <a:ext cx="5422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Həll: RFM Analizi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1874520"/>
            <a:ext cx="5422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RFM — müştəriləri 3 ölçüyə görə qiymətləndirən sadə, sübut olunmuş metoddur:</a:t>
            </a:r>
            <a:endParaRPr lang="en-US" sz="1500" dirty="0"/>
          </a:p>
        </p:txBody>
      </p:sp>
      <p:sp>
        <p:nvSpPr>
          <p:cNvPr id="8" name="RFM row Recency"/>
          <p:cNvSpPr/>
          <p:nvPr/>
        </p:nvSpPr>
        <p:spPr>
          <a:xfrm>
            <a:off x="6217920" y="2514600"/>
            <a:ext cx="5422392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9" name="RFM badge R"/>
          <p:cNvSpPr/>
          <p:nvPr/>
        </p:nvSpPr>
        <p:spPr>
          <a:xfrm>
            <a:off x="6355080" y="261518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55080" y="2615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995160" y="2514600"/>
            <a:ext cx="4507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Recency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Müştəri son dəfə nə vaxt alış-veriş edib?</a:t>
            </a:r>
            <a:endParaRPr lang="en-US" sz="1500" dirty="0"/>
          </a:p>
        </p:txBody>
      </p:sp>
      <p:sp>
        <p:nvSpPr>
          <p:cNvPr id="12" name="RFM row Frequency"/>
          <p:cNvSpPr/>
          <p:nvPr/>
        </p:nvSpPr>
        <p:spPr>
          <a:xfrm>
            <a:off x="6217920" y="3291840"/>
            <a:ext cx="5422392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13" name="RFM badge F"/>
          <p:cNvSpPr/>
          <p:nvPr/>
        </p:nvSpPr>
        <p:spPr>
          <a:xfrm>
            <a:off x="6355080" y="3392424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55080" y="3392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F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995160" y="3291840"/>
            <a:ext cx="4507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Frequency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Müştəri nə qədər tez-tez alış-veriş edir?</a:t>
            </a:r>
            <a:endParaRPr lang="en-US" sz="1500" dirty="0"/>
          </a:p>
        </p:txBody>
      </p:sp>
      <p:sp>
        <p:nvSpPr>
          <p:cNvPr id="16" name="RFM row Monetary"/>
          <p:cNvSpPr/>
          <p:nvPr/>
        </p:nvSpPr>
        <p:spPr>
          <a:xfrm>
            <a:off x="6217920" y="4069080"/>
            <a:ext cx="5422392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17" name="RFM badge M"/>
          <p:cNvSpPr/>
          <p:nvPr/>
        </p:nvSpPr>
        <p:spPr>
          <a:xfrm>
            <a:off x="6355080" y="4169664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55080" y="4169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995160" y="4069080"/>
            <a:ext cx="4507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Monetary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Müştəri ümumilikdə nə qədər xərcləyib?</a:t>
            </a:r>
            <a:endParaRPr lang="en-US" sz="1500" dirty="0"/>
          </a:p>
        </p:txBody>
      </p:sp>
      <p:sp>
        <p:nvSpPr>
          <p:cNvPr id="20" name="Goal banner"/>
          <p:cNvSpPr/>
          <p:nvPr/>
        </p:nvSpPr>
        <p:spPr>
          <a:xfrm>
            <a:off x="548640" y="5074920"/>
            <a:ext cx="11091672" cy="109728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60120" y="5074920"/>
            <a:ext cx="102687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Layihənin məqsədi: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Bu üç göstərici əsasında müştəriləri mənalı seqmentlərə bölmək və hər seqment üçün konkret marketinq strategiyası təklif etmək.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Dataset İcmalı</a:t>
            </a:r>
            <a:endParaRPr lang="en-US" sz="3200" dirty="0"/>
          </a:p>
        </p:txBody>
      </p:sp>
      <p:sp>
        <p:nvSpPr>
          <p:cNvPr id="3" name="Stat card 1"/>
          <p:cNvSpPr/>
          <p:nvPr/>
        </p:nvSpPr>
        <p:spPr>
          <a:xfrm>
            <a:off x="548640" y="1417320"/>
            <a:ext cx="26060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17,049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ümumi sifariş sayı</a:t>
            </a:r>
            <a:endParaRPr lang="en-US" sz="1500" dirty="0"/>
          </a:p>
        </p:txBody>
      </p:sp>
      <p:sp>
        <p:nvSpPr>
          <p:cNvPr id="6" name="Stat card 2"/>
          <p:cNvSpPr/>
          <p:nvPr/>
        </p:nvSpPr>
        <p:spPr>
          <a:xfrm>
            <a:off x="3377184" y="1417320"/>
            <a:ext cx="26060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651504" y="155448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651504" y="22860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unikal müştəri sayı</a:t>
            </a:r>
            <a:endParaRPr lang="en-US" sz="1500" dirty="0"/>
          </a:p>
        </p:txBody>
      </p:sp>
      <p:sp>
        <p:nvSpPr>
          <p:cNvPr id="9" name="Stat card 3"/>
          <p:cNvSpPr/>
          <p:nvPr/>
        </p:nvSpPr>
        <p:spPr>
          <a:xfrm>
            <a:off x="6205728" y="1417320"/>
            <a:ext cx="26060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80048" y="155448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480048" y="22860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şəhər sayı</a:t>
            </a:r>
            <a:endParaRPr lang="en-US" sz="1500" dirty="0"/>
          </a:p>
        </p:txBody>
      </p:sp>
      <p:sp>
        <p:nvSpPr>
          <p:cNvPr id="12" name="Stat card 4"/>
          <p:cNvSpPr/>
          <p:nvPr/>
        </p:nvSpPr>
        <p:spPr>
          <a:xfrm>
            <a:off x="9034272" y="1417320"/>
            <a:ext cx="26060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308592" y="155448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9308592" y="22860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məhsul kateqoriyası</a:t>
            </a:r>
            <a:endParaRPr lang="en-US" sz="1500" dirty="0"/>
          </a:p>
        </p:txBody>
      </p:sp>
      <p:sp>
        <p:nvSpPr>
          <p:cNvPr id="15" name="Columns card"/>
          <p:cNvSpPr/>
          <p:nvPr/>
        </p:nvSpPr>
        <p:spPr>
          <a:xfrm>
            <a:off x="548640" y="3063240"/>
            <a:ext cx="685800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329184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Sütun qrupları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3749040"/>
            <a:ext cx="6126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Sifariş məlumatları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Order_ID, Date, Product_Category, Unit_Price, Quantity, Discount_Amount, Total_Amount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Müştəri məlumatları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Customer_ID, Age, Gender, City, Is_Returning_Customer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Davranış/sessiya məlumatları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Payment_Method, Device_Type, Session_Duration_Minutes, Pages_Viewed, Delivery_Time_Days, Customer_Rating</a:t>
            </a:r>
            <a:endParaRPr lang="en-US" sz="1500" dirty="0"/>
          </a:p>
        </p:txBody>
      </p:sp>
      <p:sp>
        <p:nvSpPr>
          <p:cNvPr id="18" name="Facts card"/>
          <p:cNvSpPr/>
          <p:nvPr/>
        </p:nvSpPr>
        <p:spPr>
          <a:xfrm>
            <a:off x="7680960" y="3063240"/>
            <a:ext cx="3959352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046720" y="3337560"/>
            <a:ext cx="32278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Tarix aralığı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2023.01.01 – 2024.03.25 (~15 ay)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Məhsul kateqoriyaları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Electronics, Fashion, Home &amp; Garden, Sports, Books, Beauty, Toys, Food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Dublikat dəyər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Yoxdur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Metodologiya — RFM Necə Hesablandı</a:t>
            </a:r>
            <a:endParaRPr lang="en-US" sz="3200" dirty="0"/>
          </a:p>
        </p:txBody>
      </p:sp>
      <p:sp>
        <p:nvSpPr>
          <p:cNvPr id="3" name="Analysis date pill"/>
          <p:cNvSpPr/>
          <p:nvPr/>
        </p:nvSpPr>
        <p:spPr>
          <a:xfrm>
            <a:off x="548640" y="1371600"/>
            <a:ext cx="11091672" cy="54864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37160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Analiz tarixi: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2024-03-26 (son sifarişdən 1 gün sonra)</a:t>
            </a:r>
            <a:endParaRPr lang="en-US" sz="1600" dirty="0"/>
          </a:p>
        </p:txBody>
      </p:sp>
      <p:sp>
        <p:nvSpPr>
          <p:cNvPr id="5" name="Step card 1"/>
          <p:cNvSpPr/>
          <p:nvPr/>
        </p:nvSpPr>
        <p:spPr>
          <a:xfrm>
            <a:off x="548640" y="2194560"/>
            <a:ext cx="35204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6" name="Step badge 1"/>
          <p:cNvSpPr/>
          <p:nvPr/>
        </p:nvSpPr>
        <p:spPr>
          <a:xfrm>
            <a:off x="868680" y="24688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4688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Recency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1546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Müştərinin son sifarişindən neçə gün keçib</a:t>
            </a:r>
            <a:endParaRPr lang="en-US" sz="1500" dirty="0"/>
          </a:p>
        </p:txBody>
      </p:sp>
      <p:sp>
        <p:nvSpPr>
          <p:cNvPr id="10" name="Step card 2"/>
          <p:cNvSpPr/>
          <p:nvPr/>
        </p:nvSpPr>
        <p:spPr>
          <a:xfrm>
            <a:off x="4334256" y="2194560"/>
            <a:ext cx="35204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11" name="Step badge 2"/>
          <p:cNvSpPr/>
          <p:nvPr/>
        </p:nvSpPr>
        <p:spPr>
          <a:xfrm>
            <a:off x="4654296" y="246888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54296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5385816" y="24688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Frequency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654296" y="31546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Müştərinin ümumi sifariş sayı</a:t>
            </a:r>
            <a:endParaRPr lang="en-US" sz="1500" dirty="0"/>
          </a:p>
        </p:txBody>
      </p:sp>
      <p:sp>
        <p:nvSpPr>
          <p:cNvPr id="15" name="Step card 3"/>
          <p:cNvSpPr/>
          <p:nvPr/>
        </p:nvSpPr>
        <p:spPr>
          <a:xfrm>
            <a:off x="8119872" y="2194560"/>
            <a:ext cx="35204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16" name="Step badge 3"/>
          <p:cNvSpPr/>
          <p:nvPr/>
        </p:nvSpPr>
        <p:spPr>
          <a:xfrm>
            <a:off x="8439912" y="246888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39912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9171432" y="24688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Monetary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439912" y="31546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Müştərinin bütün sifarişlərinin cəmi (TRY)</a:t>
            </a:r>
            <a:endParaRPr lang="en-US" sz="1500" dirty="0"/>
          </a:p>
        </p:txBody>
      </p:sp>
      <p:sp>
        <p:nvSpPr>
          <p:cNvPr id="20" name="Quintile card"/>
          <p:cNvSpPr/>
          <p:nvPr/>
        </p:nvSpPr>
        <p:spPr>
          <a:xfrm>
            <a:off x="548640" y="4069080"/>
            <a:ext cx="544068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" y="42976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Kvintil metodu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" y="4754880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Hər metrika 5 bərabər qrupa bölünərək 1–5 arası bal verilir.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Recency: az gün = yüksək bal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Frequency və Monetary: çox = yüksək bal</a:t>
            </a:r>
            <a:endParaRPr lang="en-US" sz="1500" dirty="0"/>
          </a:p>
        </p:txBody>
      </p:sp>
      <p:sp>
        <p:nvSpPr>
          <p:cNvPr id="23" name="Segmentation card"/>
          <p:cNvSpPr/>
          <p:nvPr/>
        </p:nvSpPr>
        <p:spPr>
          <a:xfrm>
            <a:off x="6199632" y="4069080"/>
            <a:ext cx="544068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565392" y="42976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Seqmentləşmə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565392" y="475488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R, F, M balları birləşdirilərək müştərilər 9 seqmentə bölündü. Məsələn:</a:t>
            </a:r>
            <a:endParaRPr lang="en-US" sz="1500" dirty="0"/>
          </a:p>
        </p:txBody>
      </p:sp>
      <p:sp>
        <p:nvSpPr>
          <p:cNvPr id="26" name="Chip R=5"/>
          <p:cNvSpPr/>
          <p:nvPr/>
        </p:nvSpPr>
        <p:spPr>
          <a:xfrm>
            <a:off x="6565392" y="5440680"/>
            <a:ext cx="777240" cy="4572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65392" y="54406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R=5</a:t>
            </a:r>
            <a:endParaRPr lang="en-US" sz="1400" dirty="0"/>
          </a:p>
        </p:txBody>
      </p:sp>
      <p:sp>
        <p:nvSpPr>
          <p:cNvPr id="28" name="Chip F=5"/>
          <p:cNvSpPr/>
          <p:nvPr/>
        </p:nvSpPr>
        <p:spPr>
          <a:xfrm>
            <a:off x="7479792" y="5440680"/>
            <a:ext cx="777240" cy="4572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479792" y="54406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F=5</a:t>
            </a:r>
            <a:endParaRPr lang="en-US" sz="1400" dirty="0"/>
          </a:p>
        </p:txBody>
      </p:sp>
      <p:sp>
        <p:nvSpPr>
          <p:cNvPr id="30" name="Chip M=5"/>
          <p:cNvSpPr/>
          <p:nvPr/>
        </p:nvSpPr>
        <p:spPr>
          <a:xfrm>
            <a:off x="8394192" y="5440680"/>
            <a:ext cx="777240" cy="4572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94192" y="54406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M=5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9308592" y="5440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→</a:t>
            </a:r>
            <a:endParaRPr lang="en-US" sz="2000" dirty="0"/>
          </a:p>
        </p:txBody>
      </p:sp>
      <p:sp>
        <p:nvSpPr>
          <p:cNvPr id="33" name="Chip Champions"/>
          <p:cNvSpPr/>
          <p:nvPr/>
        </p:nvSpPr>
        <p:spPr>
          <a:xfrm>
            <a:off x="9811512" y="5440680"/>
            <a:ext cx="1463040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811512" y="54406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Champions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RFM Göstəricilərinin Paylanması</a:t>
            </a:r>
            <a:endParaRPr lang="en-US" sz="3200" dirty="0"/>
          </a:p>
        </p:txBody>
      </p:sp>
      <p:sp>
        <p:nvSpPr>
          <p:cNvPr id="3" name="Chart frame"/>
          <p:cNvSpPr/>
          <p:nvPr/>
        </p:nvSpPr>
        <p:spPr>
          <a:xfrm>
            <a:off x="1248156" y="1280160"/>
            <a:ext cx="9692640" cy="2816168"/>
          </a:xfrm>
          <a:prstGeom prst="roundRect">
            <a:avLst>
              <a:gd name="adj" fmla="val 2598"/>
            </a:avLst>
          </a:prstGeom>
          <a:solidFill>
            <a:schemeClr val="bg1"/>
          </a:solidFill>
          <a:ln w="12700">
            <a:solidFill>
              <a:srgbClr val="DCE5EE"/>
            </a:solidFill>
            <a:prstDash val="solid"/>
          </a:ln>
        </p:spPr>
      </p:sp>
      <p:pic>
        <p:nvPicPr>
          <p:cNvPr id="4" name="Image 0" descr="Recency, Frequency və Monetary göstəricilərinin histoqramları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9596" y="1371600"/>
            <a:ext cx="9509760" cy="263328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39596" y="4187768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Recency, Frequency və Monetary göstəricilərinin müştərilər arasında necə paylandığını göstərən 3 histoqram</a:t>
            </a:r>
            <a:endParaRPr lang="en-US" sz="1100" dirty="0"/>
          </a:p>
        </p:txBody>
      </p:sp>
      <p:sp>
        <p:nvSpPr>
          <p:cNvPr id="6" name="Metric tile 1"/>
          <p:cNvSpPr/>
          <p:nvPr/>
        </p:nvSpPr>
        <p:spPr>
          <a:xfrm>
            <a:off x="548640" y="4389120"/>
            <a:ext cx="352044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438912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Recency — orta</a:t>
            </a:r>
            <a:endParaRPr lang="en-US" sz="13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126 gün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min 1 gün · maks 450 gün</a:t>
            </a:r>
            <a:endParaRPr lang="en-US" sz="1300" dirty="0"/>
          </a:p>
        </p:txBody>
      </p:sp>
      <p:sp>
        <p:nvSpPr>
          <p:cNvPr id="8" name="Metric tile 2"/>
          <p:cNvSpPr/>
          <p:nvPr/>
        </p:nvSpPr>
        <p:spPr>
          <a:xfrm>
            <a:off x="4334256" y="4389120"/>
            <a:ext cx="352044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608576" y="438912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Frequency — orta</a:t>
            </a:r>
            <a:endParaRPr lang="en-US" sz="13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 sifariş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min 1 · maks 10</a:t>
            </a:r>
            <a:endParaRPr lang="en-US" sz="1300" dirty="0"/>
          </a:p>
        </p:txBody>
      </p:sp>
      <p:sp>
        <p:nvSpPr>
          <p:cNvPr id="10" name="Metric tile 3"/>
          <p:cNvSpPr/>
          <p:nvPr/>
        </p:nvSpPr>
        <p:spPr>
          <a:xfrm>
            <a:off x="8119872" y="4389120"/>
            <a:ext cx="352044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394192" y="438912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Monetary — orta</a:t>
            </a:r>
            <a:endParaRPr lang="en-US" sz="13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4,356 TRY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min 14 TRY · maks 50,628 TRY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6692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Müştərilərin əksəriyyəti az sayda (1-5) sifariş verib, amma xərclədikləri məbləğ geniş fərqlənir — bu da onları fərqli seqmentlərə bölməyi zəruri edir.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Müştəri Seqmentlərinin Tərifi</a:t>
            </a:r>
            <a:endParaRPr lang="en-US" sz="3200" dirty="0"/>
          </a:p>
        </p:txBody>
      </p:sp>
      <p:graphicFrame>
        <p:nvGraphicFramePr>
          <p:cNvPr id="9" name="Segment definition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789127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Seqment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Təsvir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Champions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Yaxınlarda, tez-tez və çox xərcləyən ən dəyərli müştərilər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Loyal Customers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Davamlı, etibarlı alıcılar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New Customers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Yaxınlarda ilk dəfə alış-veriş edənlər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Promising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Potensiallı, hələ az xərcləyən yeni müştərilər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At Risk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Əvvəllər dəyərli olub, indi uzun müddətdir görünməyənlər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Cannot Lose Them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Tez-tez alış-veriş edib, son vaxtlar görünməyənlər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Big Spenders (Churned)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Keçmişdə çox xərcləyib, indi itirilmə riski yüksək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Lost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Uzun müddətdir aktiv olmayan, aşağı dəyərli müştərilər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Need Attention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Orta göstəricili, diqqət tələb edən müştərilər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Müştəri Seqmentlərinin Ölçüsü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777240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Insight panel"/>
          <p:cNvSpPr/>
          <p:nvPr/>
        </p:nvSpPr>
        <p:spPr>
          <a:xfrm>
            <a:off x="8686800" y="1417320"/>
            <a:ext cx="2953512" cy="4754880"/>
          </a:xfrm>
          <a:prstGeom prst="roundRect">
            <a:avLst>
              <a:gd name="adj" fmla="val 3715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9006840" y="1645920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36.1%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9006840" y="2377440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müştəri Champions və Loyal Customers seqmentlərindədir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9006840" y="3246120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16.5%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9006840" y="3977640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müştəri Lost seqmentindədir (827 nəfər)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9006840" y="4754880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9006840" y="5486400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müştəri 9 seqmentə bölünüb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Gəlirin Seqmentlər üzrə Bölgüsü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777240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Insight panel"/>
          <p:cNvSpPr/>
          <p:nvPr/>
        </p:nvSpPr>
        <p:spPr>
          <a:xfrm>
            <a:off x="8686800" y="1417320"/>
            <a:ext cx="2953512" cy="4754880"/>
          </a:xfrm>
          <a:prstGeom prst="roundRect">
            <a:avLst>
              <a:gd name="adj" fmla="val 3715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9006840" y="1645920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62.8%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9006840" y="2377440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gəlir Champions və Loyal Customers seqmentlərindən gəlir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9006840" y="3246120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38.4%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9006840" y="3977640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gəlir təkcə Champions seqmentinin payıdır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9006840" y="4754880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2.1%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9006840" y="5486400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Lost seqmentinin gəlirdəki payı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RFM Skorları — Seqmentlərin Müqayisəsi</a:t>
            </a:r>
            <a:endParaRPr lang="en-US" sz="3200" dirty="0"/>
          </a:p>
        </p:txBody>
      </p:sp>
      <p:graphicFrame>
        <p:nvGraphicFramePr>
          <p:cNvPr id="12" name="RFM heatmap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0350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097280"/>
                <a:gridCol w="1097280"/>
                <a:gridCol w="10972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Seqment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Champions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4.54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5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4.68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D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4.58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26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New Customers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4.43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A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1.59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2.17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3C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Loyal Customers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3.72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708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3.89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67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3.74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F8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Need Attention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3.11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91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2.70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7B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2.40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B7C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Promising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3.00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97A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1.52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1.42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At Risk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1.84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D5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4.37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4E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4.46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Cannot Lose Them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1.61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3.33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859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2.79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A2B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Big Spenders (Churned)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1.50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1.62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4.36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4E6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Lost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1.34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1.37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E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1.34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4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603504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Orta R, F, M balları (1–5 şkala). Tünd rəng yüksək bal deməkdir.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995160" y="1371600"/>
            <a:ext cx="4645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Əsas müşahidələr</a:t>
            </a:r>
            <a:endParaRPr lang="en-US" sz="2000" dirty="0"/>
          </a:p>
        </p:txBody>
      </p:sp>
      <p:sp>
        <p:nvSpPr>
          <p:cNvPr id="6" name="Observation Champions"/>
          <p:cNvSpPr/>
          <p:nvPr/>
        </p:nvSpPr>
        <p:spPr>
          <a:xfrm>
            <a:off x="6995160" y="1920240"/>
            <a:ext cx="4645152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223760" y="1920240"/>
            <a:ext cx="41879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Champions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— hər üç göstəricidə ən yüksək ballara malikdir (R, F, M hamısı ~4-5)</a:t>
            </a:r>
            <a:endParaRPr lang="en-US" sz="1500" dirty="0"/>
          </a:p>
        </p:txBody>
      </p:sp>
      <p:sp>
        <p:nvSpPr>
          <p:cNvPr id="8" name="Observation Lost"/>
          <p:cNvSpPr/>
          <p:nvPr/>
        </p:nvSpPr>
        <p:spPr>
          <a:xfrm>
            <a:off x="6995160" y="2999232"/>
            <a:ext cx="4645152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223760" y="2999232"/>
            <a:ext cx="41879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Lost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— hər üç göstəricidə ən aşağı ballardadır</a:t>
            </a:r>
            <a:endParaRPr lang="en-US" sz="1500" dirty="0"/>
          </a:p>
        </p:txBody>
      </p:sp>
      <p:sp>
        <p:nvSpPr>
          <p:cNvPr id="10" name="Observation At Risk"/>
          <p:cNvSpPr/>
          <p:nvPr/>
        </p:nvSpPr>
        <p:spPr>
          <a:xfrm>
            <a:off x="6995160" y="4078224"/>
            <a:ext cx="4645152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223760" y="4078224"/>
            <a:ext cx="41879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At Risk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— aşağı Recency balına baxmayaraq, yüksək Frequency və Monetary balına malikdir; əvvəllər dəyərli müştəri olub, indi itirilmə təhlükəsindədir</a:t>
            </a:r>
            <a:endParaRPr lang="en-US" sz="1500" dirty="0"/>
          </a:p>
        </p:txBody>
      </p:sp>
      <p:sp>
        <p:nvSpPr>
          <p:cNvPr id="12" name="Observation New Customers"/>
          <p:cNvSpPr/>
          <p:nvPr/>
        </p:nvSpPr>
        <p:spPr>
          <a:xfrm>
            <a:off x="6995160" y="5157216"/>
            <a:ext cx="4645152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223760" y="5157216"/>
            <a:ext cx="41879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New Customers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— yüksək Recency, aşağı Frequency/Monetary; hələ öz dəyərini sübut etməyib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Champions vs Lost Müqayisəsi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İki əks seqmenti (ən dəyərli və ən dəyərsiz müştərilər) müqayisə edərək fərqlərin haradan qaynaqlandığını araşdırırıq.</a:t>
            </a:r>
            <a:endParaRPr lang="en-US" sz="1500" dirty="0"/>
          </a:p>
        </p:txBody>
      </p:sp>
      <p:graphicFrame>
        <p:nvGraphicFramePr>
          <p:cNvPr id="13" name="Champions vs Los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91672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3429000"/>
                <a:gridCol w="3456432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Göstərici</a:t>
                      </a:r>
                      <a:endParaRPr lang="en-US" sz="1600" dirty="0"/>
                    </a:p>
                  </a:txBody>
                  <a:tcPr marL="182880" marR="18288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Champions</a:t>
                      </a:r>
                      <a:endParaRPr lang="en-US" sz="1600" dirty="0"/>
                    </a:p>
                  </a:txBody>
                  <a:tcPr marL="182880" marR="18288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Lost</a:t>
                      </a:r>
                      <a:endParaRPr lang="en-US" sz="1600" dirty="0"/>
                    </a:p>
                  </a:txBody>
                  <a:tcPr marL="182880" marR="18288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6B7D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Müştəri sayı</a:t>
                      </a:r>
                      <a:endParaRPr lang="en-US" sz="1600" dirty="0"/>
                    </a:p>
                  </a:txBody>
                  <a:tcPr marL="182880" marR="18288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856</a:t>
                      </a:r>
                      <a:endParaRPr lang="en-US" sz="1800" dirty="0"/>
                    </a:p>
                  </a:txBody>
                  <a:tcPr marL="182880" marR="18288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5"/>
                          </a:solidFill>
                        </a:rPr>
                        <a:t>827</a:t>
                      </a:r>
                      <a:endParaRPr lang="en-US" sz="1800" dirty="0"/>
                    </a:p>
                  </a:txBody>
                  <a:tcPr marL="182880" marR="18288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Orta Recency (gün)</a:t>
                      </a:r>
                      <a:endParaRPr lang="en-US" sz="1600" dirty="0"/>
                    </a:p>
                  </a:txBody>
                  <a:tcPr marL="182880" marR="18288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30.1</a:t>
                      </a:r>
                      <a:endParaRPr lang="en-US" sz="1800" dirty="0"/>
                    </a:p>
                  </a:txBody>
                  <a:tcPr marL="182880" marR="18288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5"/>
                          </a:solidFill>
                        </a:rPr>
                        <a:t>267.1</a:t>
                      </a:r>
                      <a:endParaRPr lang="en-US" sz="1800" dirty="0"/>
                    </a:p>
                  </a:txBody>
                  <a:tcPr marL="182880" marR="18288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Orta Frequency</a:t>
                      </a:r>
                      <a:endParaRPr lang="en-US" sz="1600" dirty="0"/>
                    </a:p>
                  </a:txBody>
                  <a:tcPr marL="182880" marR="18288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6.4 sifariş</a:t>
                      </a:r>
                      <a:endParaRPr lang="en-US" sz="1800" dirty="0"/>
                    </a:p>
                  </a:txBody>
                  <a:tcPr marL="182880" marR="18288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5"/>
                          </a:solidFill>
                        </a:rPr>
                        <a:t>1.4 sifariş</a:t>
                      </a:r>
                      <a:endParaRPr lang="en-US" sz="1800" dirty="0"/>
                    </a:p>
                  </a:txBody>
                  <a:tcPr marL="182880" marR="18288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Orta Monetary</a:t>
                      </a:r>
                      <a:endParaRPr lang="en-US" sz="1600" dirty="0"/>
                    </a:p>
                  </a:txBody>
                  <a:tcPr marL="182880" marR="18288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9,776.5 TRY</a:t>
                      </a:r>
                      <a:endParaRPr lang="en-US" sz="1800" dirty="0"/>
                    </a:p>
                  </a:txBody>
                  <a:tcPr marL="182880" marR="18288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5"/>
                          </a:solidFill>
                        </a:rPr>
                        <a:t>565.9 TRY</a:t>
                      </a:r>
                      <a:endParaRPr lang="en-US" sz="1800" dirty="0"/>
                    </a:p>
                  </a:txBody>
                  <a:tcPr marL="182880" marR="18288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Gəlirdəki pay</a:t>
                      </a:r>
                      <a:endParaRPr lang="en-US" sz="1600" dirty="0"/>
                    </a:p>
                  </a:txBody>
                  <a:tcPr marL="182880" marR="18288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38.4%</a:t>
                      </a:r>
                      <a:endParaRPr lang="en-US" sz="1800" dirty="0"/>
                    </a:p>
                  </a:txBody>
                  <a:tcPr marL="182880" marR="18288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5"/>
                          </a:solidFill>
                        </a:rPr>
                        <a:t>2.1%</a:t>
                      </a:r>
                      <a:endParaRPr lang="en-US" sz="1800" dirty="0"/>
                    </a:p>
                  </a:txBody>
                  <a:tcPr marL="182880" marR="18288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akeaway banner"/>
          <p:cNvSpPr/>
          <p:nvPr/>
        </p:nvSpPr>
        <p:spPr>
          <a:xfrm>
            <a:off x="548640" y="5394960"/>
            <a:ext cx="11091672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14400" y="5394960"/>
            <a:ext cx="10360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Champions demək olar ki, hər ay alış-veriş edir (30 gün),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Lost isə ~9 ay-dır heç bir aktivlik göstərmir. </a:t>
            </a:r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Champions ortalama 17 dəfə çox xərcləyir.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Seqmentə görə Strategiya</a:t>
            </a:r>
            <a:endParaRPr lang="en-US" sz="3200" dirty="0"/>
          </a:p>
        </p:txBody>
      </p:sp>
      <p:sp>
        <p:nvSpPr>
          <p:cNvPr id="3" name="Strategy card Champions"/>
          <p:cNvSpPr/>
          <p:nvPr/>
        </p:nvSpPr>
        <p:spPr>
          <a:xfrm>
            <a:off x="548640" y="1417320"/>
            <a:ext cx="35204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Champions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VIP proqramlar, erkən çıxışlı məhsullara giriş, sadiqlik mükafatları</a:t>
            </a:r>
            <a:endParaRPr lang="en-US" sz="1600" dirty="0"/>
          </a:p>
        </p:txBody>
      </p:sp>
      <p:sp>
        <p:nvSpPr>
          <p:cNvPr id="6" name="Strategy card Loyal Customers"/>
          <p:cNvSpPr/>
          <p:nvPr/>
        </p:nvSpPr>
        <p:spPr>
          <a:xfrm>
            <a:off x="4334256" y="1417320"/>
            <a:ext cx="35204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608576" y="16002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Loyal Customers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608576" y="201168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Cross-sell/up-sell təklifləri, sadiqlik proqramına dəvət</a:t>
            </a:r>
            <a:endParaRPr lang="en-US" sz="1600" dirty="0"/>
          </a:p>
        </p:txBody>
      </p:sp>
      <p:sp>
        <p:nvSpPr>
          <p:cNvPr id="9" name="Strategy card At Risk"/>
          <p:cNvSpPr/>
          <p:nvPr/>
        </p:nvSpPr>
        <p:spPr>
          <a:xfrm>
            <a:off x="8119872" y="1417320"/>
            <a:ext cx="35204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394192" y="16002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Risk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394192" y="201168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Fərdiləşdirilmiş endirim kampaniyaları, təcili geri qazanma tədbirləri</a:t>
            </a:r>
            <a:endParaRPr lang="en-US" sz="1600" dirty="0"/>
          </a:p>
        </p:txBody>
      </p:sp>
      <p:sp>
        <p:nvSpPr>
          <p:cNvPr id="12" name="Strategy card Cannot Lose Them"/>
          <p:cNvSpPr/>
          <p:nvPr/>
        </p:nvSpPr>
        <p:spPr>
          <a:xfrm>
            <a:off x="548640" y="3063240"/>
            <a:ext cx="35204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2461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Cannot Lose Them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6576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Birbaşa əlaqə (email/zəng), xüsusi təkliflər, geri bildirim sorğusu</a:t>
            </a:r>
            <a:endParaRPr lang="en-US" sz="1600" dirty="0"/>
          </a:p>
        </p:txBody>
      </p:sp>
      <p:sp>
        <p:nvSpPr>
          <p:cNvPr id="15" name="Strategy card Big Spenders (Churned)"/>
          <p:cNvSpPr/>
          <p:nvPr/>
        </p:nvSpPr>
        <p:spPr>
          <a:xfrm>
            <a:off x="4334256" y="3063240"/>
            <a:ext cx="35204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608576" y="32461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 Spenders (Churned)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608576" y="36576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Yüksək dəyərli, fərdi win-back kampaniyası (endirim + şəxsi mesaj)</a:t>
            </a:r>
            <a:endParaRPr lang="en-US" sz="1600" dirty="0"/>
          </a:p>
        </p:txBody>
      </p:sp>
      <p:sp>
        <p:nvSpPr>
          <p:cNvPr id="18" name="Strategy card New Customers"/>
          <p:cNvSpPr/>
          <p:nvPr/>
        </p:nvSpPr>
        <p:spPr>
          <a:xfrm>
            <a:off x="8119872" y="3063240"/>
            <a:ext cx="35204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394192" y="32461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Customers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394192" y="36576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Xoş gəldin bonusları, ilk alış-veriş üçün endirim, onboarding e-poçtları</a:t>
            </a:r>
            <a:endParaRPr lang="en-US" sz="1600" dirty="0"/>
          </a:p>
        </p:txBody>
      </p:sp>
      <p:sp>
        <p:nvSpPr>
          <p:cNvPr id="21" name="Strategy card Promising"/>
          <p:cNvSpPr/>
          <p:nvPr/>
        </p:nvSpPr>
        <p:spPr>
          <a:xfrm>
            <a:off x="548640" y="4709160"/>
            <a:ext cx="35204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" y="48920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Promising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30352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Məhsul tövsiyələri ilə tezliyi artırmağa yönəlmiş kampaniyalar</a:t>
            </a:r>
            <a:endParaRPr lang="en-US" sz="1600" dirty="0"/>
          </a:p>
        </p:txBody>
      </p:sp>
      <p:sp>
        <p:nvSpPr>
          <p:cNvPr id="24" name="Strategy card Need Attention"/>
          <p:cNvSpPr/>
          <p:nvPr/>
        </p:nvSpPr>
        <p:spPr>
          <a:xfrm>
            <a:off x="4334256" y="4709160"/>
            <a:ext cx="35204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608576" y="48920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 Attention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4608576" y="530352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Orta səviyyəli təkliflər, davranışı izləməyə davam etmək</a:t>
            </a:r>
            <a:endParaRPr lang="en-US" sz="1600" dirty="0"/>
          </a:p>
        </p:txBody>
      </p:sp>
      <p:sp>
        <p:nvSpPr>
          <p:cNvPr id="27" name="Strategy card Lost"/>
          <p:cNvSpPr/>
          <p:nvPr/>
        </p:nvSpPr>
        <p:spPr>
          <a:xfrm>
            <a:off x="8119872" y="4709160"/>
            <a:ext cx="35204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394192" y="48920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Lost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8394192" y="530352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Minimal marketinq xərci; yalnız aşağı büdcəli win-back cəhdi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Nəticə və Növbəti Addımlar</a:t>
            </a:r>
            <a:endParaRPr lang="en-US" sz="3200" dirty="0"/>
          </a:p>
        </p:txBody>
      </p:sp>
      <p:sp>
        <p:nvSpPr>
          <p:cNvPr id="3" name="Conclusion card"/>
          <p:cNvSpPr/>
          <p:nvPr/>
        </p:nvSpPr>
        <p:spPr>
          <a:xfrm>
            <a:off x="548640" y="1371600"/>
            <a:ext cx="5943600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6002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Nəticə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10312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Bu layihədə 5,000 müştərinin alış-veriş davranışı RFM metodu ilə analiz edildi və 9 mənalı seqmentə bölündü. Analiz göstərdi ki: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971800"/>
            <a:ext cx="5212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Müştərilərin cəmi 36%-i (Champions + Loyal Customers) gəlirin 62.8%-ni yaradır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At Risk seqmenti yüksək dəyərli, amma itki riski yüksək olan kritik qrupdur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Lost seqmenti böyük ölçüdə olsa da, gəlirə töhfəsi minimaldır (2.1%)</a:t>
            </a:r>
            <a:endParaRPr lang="en-US" sz="1500" dirty="0"/>
          </a:p>
        </p:txBody>
      </p:sp>
      <p:sp>
        <p:nvSpPr>
          <p:cNvPr id="7" name="Conclusion takeaway"/>
          <p:cNvSpPr/>
          <p:nvPr/>
        </p:nvSpPr>
        <p:spPr>
          <a:xfrm>
            <a:off x="914400" y="4892040"/>
            <a:ext cx="5212080" cy="109728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88720" y="489204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RFM analizi məhdud marketinq büdcəsini düzgün seqmentlərə yönəltmək üçün effektiv, sadə və tətbiq oluna bilən bir metoddur.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0" y="1417320"/>
            <a:ext cx="4782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Növbəti addımlar</a:t>
            </a:r>
            <a:endParaRPr lang="en-US" sz="2000" dirty="0"/>
          </a:p>
        </p:txBody>
      </p:sp>
      <p:sp>
        <p:nvSpPr>
          <p:cNvPr id="10" name="Next step 1"/>
          <p:cNvSpPr/>
          <p:nvPr/>
        </p:nvSpPr>
        <p:spPr>
          <a:xfrm>
            <a:off x="6858000" y="2057400"/>
            <a:ext cx="4782312" cy="896112"/>
          </a:xfrm>
          <a:prstGeom prst="roundRect">
            <a:avLst>
              <a:gd name="adj" fmla="val 12245"/>
            </a:avLst>
          </a:prstGeom>
          <a:solidFill>
            <a:schemeClr val="bg2"/>
          </a:solidFill>
          <a:ln/>
        </p:spPr>
      </p:sp>
      <p:sp>
        <p:nvSpPr>
          <p:cNvPr id="11" name="Step number 1"/>
          <p:cNvSpPr/>
          <p:nvPr/>
        </p:nvSpPr>
        <p:spPr>
          <a:xfrm>
            <a:off x="7086600" y="227685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86600" y="2276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0" y="2057400"/>
            <a:ext cx="36850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Seqmentlərə uyğun email/SMS marketinq kampaniyalarının işə salınması</a:t>
            </a:r>
            <a:endParaRPr lang="en-US" sz="1500" dirty="0"/>
          </a:p>
        </p:txBody>
      </p:sp>
      <p:sp>
        <p:nvSpPr>
          <p:cNvPr id="14" name="Next step 2"/>
          <p:cNvSpPr/>
          <p:nvPr/>
        </p:nvSpPr>
        <p:spPr>
          <a:xfrm>
            <a:off x="6858000" y="3081528"/>
            <a:ext cx="4782312" cy="896112"/>
          </a:xfrm>
          <a:prstGeom prst="roundRect">
            <a:avLst>
              <a:gd name="adj" fmla="val 12245"/>
            </a:avLst>
          </a:prstGeom>
          <a:solidFill>
            <a:schemeClr val="bg2"/>
          </a:solidFill>
          <a:ln/>
        </p:spPr>
      </p:sp>
      <p:sp>
        <p:nvSpPr>
          <p:cNvPr id="15" name="Step number 2"/>
          <p:cNvSpPr/>
          <p:nvPr/>
        </p:nvSpPr>
        <p:spPr>
          <a:xfrm>
            <a:off x="7086600" y="330098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086600" y="3300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0" y="3081528"/>
            <a:ext cx="36850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RFM analizinin dövrü olaraq (rüblük) təkrarlanması və seqment keçidlərinin izlənməsi</a:t>
            </a:r>
            <a:endParaRPr lang="en-US" sz="1500" dirty="0"/>
          </a:p>
        </p:txBody>
      </p:sp>
      <p:sp>
        <p:nvSpPr>
          <p:cNvPr id="18" name="Next step 3"/>
          <p:cNvSpPr/>
          <p:nvPr/>
        </p:nvSpPr>
        <p:spPr>
          <a:xfrm>
            <a:off x="6858000" y="4105656"/>
            <a:ext cx="4782312" cy="896112"/>
          </a:xfrm>
          <a:prstGeom prst="roundRect">
            <a:avLst>
              <a:gd name="adj" fmla="val 12245"/>
            </a:avLst>
          </a:prstGeom>
          <a:solidFill>
            <a:schemeClr val="bg2"/>
          </a:solidFill>
          <a:ln/>
        </p:spPr>
      </p:sp>
      <p:sp>
        <p:nvSpPr>
          <p:cNvPr id="19" name="Step number 3"/>
          <p:cNvSpPr/>
          <p:nvPr/>
        </p:nvSpPr>
        <p:spPr>
          <a:xfrm>
            <a:off x="7086600" y="432511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086600" y="4325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0" y="4105656"/>
            <a:ext cx="36850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K-Means klasterləmə ilə RFM-i tamamlayan əlavə davranış seqmentasiyası</a:t>
            </a:r>
            <a:endParaRPr lang="en-US" sz="1500" dirty="0"/>
          </a:p>
        </p:txBody>
      </p:sp>
      <p:sp>
        <p:nvSpPr>
          <p:cNvPr id="22" name="Next step 4"/>
          <p:cNvSpPr/>
          <p:nvPr/>
        </p:nvSpPr>
        <p:spPr>
          <a:xfrm>
            <a:off x="6858000" y="5129784"/>
            <a:ext cx="4782312" cy="896112"/>
          </a:xfrm>
          <a:prstGeom prst="roundRect">
            <a:avLst>
              <a:gd name="adj" fmla="val 12245"/>
            </a:avLst>
          </a:prstGeom>
          <a:solidFill>
            <a:schemeClr val="bg2"/>
          </a:solidFill>
          <a:ln/>
        </p:spPr>
      </p:sp>
      <p:sp>
        <p:nvSpPr>
          <p:cNvPr id="23" name="Step number 4"/>
          <p:cNvSpPr/>
          <p:nvPr/>
        </p:nvSpPr>
        <p:spPr>
          <a:xfrm>
            <a:off x="7086600" y="53492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086600" y="5349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0" y="5129784"/>
            <a:ext cx="36850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Kampaniya nəticələrinin ölçülməsi (A/B testlər ilə)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Diqqətiniz üçün təşəkkürlər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794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Ramazanlı Məhəmməd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FM Analytics">
  <a:themeElements>
    <a:clrScheme name="RFM Analytics">
      <a:dk1>
        <a:srgbClr val="1B2733"/>
      </a:dk1>
      <a:lt1>
        <a:srgbClr val="FFFFFF"/>
      </a:lt1>
      <a:dk2>
        <a:srgbClr val="0B2540"/>
      </a:dk2>
      <a:lt2>
        <a:srgbClr val="EEF3F8"/>
      </a:lt2>
      <a:accent1>
        <a:srgbClr val="0E7C86"/>
      </a:accent1>
      <a:accent2>
        <a:srgbClr val="E8A33D"/>
      </a:accent2>
      <a:accent3>
        <a:srgbClr val="2F5D8A"/>
      </a:accent3>
      <a:accent4>
        <a:srgbClr val="C8553D"/>
      </a:accent4>
      <a:accent5>
        <a:srgbClr val="5A6B7D"/>
      </a:accent5>
      <a:accent6>
        <a:srgbClr val="9DB4C8"/>
      </a:accent6>
      <a:hlink>
        <a:srgbClr val="0E7C86"/>
      </a:hlink>
      <a:folHlink>
        <a:srgbClr val="5A6B7D"/>
      </a:folHlink>
    </a:clrScheme>
    <a:fontScheme name="RFM Analytic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Müştəri Seqmentasiyası və RFM Analizi</dc:title>
  <dc:subject>PptxGenJS Presentation</dc:subject>
  <dc:creator>Ramazanlı Məhəmməd</dc:creator>
  <cp:lastModifiedBy>Ramazanlı Məhəmməd</cp:lastModifiedBy>
  <cp:revision>1</cp:revision>
  <dcterms:created xsi:type="dcterms:W3CDTF">2026-10-23T11:18:04Z</dcterms:created>
  <dcterms:modified xsi:type="dcterms:W3CDTF">2026-10-23T11:18:04Z</dcterms:modified>
</cp:coreProperties>
</file>